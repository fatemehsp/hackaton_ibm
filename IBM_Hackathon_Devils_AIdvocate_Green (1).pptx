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&amp; Solution" id="{C3498B23-B4CC-381D-932F-BBD5C1352F29}">
          <p14:sldIdLst>
            <p14:sldId id="256"/>
            <p14:sldId id="257"/>
          </p14:sldIdLst>
        </p14:section>
        <p14:section name="Responsibility" id="{BEA42977-AF95-7866-4577-D9C573AD0532}">
          <p14:sldIdLst>
            <p14:sldId id="258"/>
          </p14:sldIdLst>
        </p14:section>
        <p14:section name="Demo" id="{C0CAEA79-7A93-44C1-C1CB-AD6ADA6DB406}">
          <p14:sldIdLst>
            <p14:sldId id="259"/>
            <p14:sldId id="260"/>
            <p14:sldId id="261"/>
            <p14:sldId id="262"/>
          </p14:sldIdLst>
        </p14:section>
        <p14:section name="References" id="{44F03055-4302-62EC-665A-09BF81E35F0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4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0"/>
            <a:ext cx="402336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77/0018720810376055" TargetMode="External"/><Relationship Id="rId3" Type="http://schemas.openxmlformats.org/officeDocument/2006/relationships/hyperlink" Target="https://doi.org/10.1007/s10648-018-9434-x" TargetMode="External"/><Relationship Id="rId7" Type="http://schemas.openxmlformats.org/officeDocument/2006/relationships/hyperlink" Target="https://doi.org/10.6028/NIST.AI.100-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145/3706598.3713778" TargetMode="External"/><Relationship Id="rId5" Type="http://schemas.openxmlformats.org/officeDocument/2006/relationships/hyperlink" Target="https://doi.org/10.1037/0003-066X.34.10.906" TargetMode="External"/><Relationship Id="rId4" Type="http://schemas.openxmlformats.org/officeDocument/2006/relationships/hyperlink" Target="https://doi.org/10.1038/s44159-022-00089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large"/>
          <p:cNvSpPr/>
          <p:nvPr/>
        </p:nvSpPr>
        <p:spPr>
          <a:xfrm>
            <a:off x="-1376329" y="4206240"/>
            <a:ext cx="4754880" cy="4754880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Deco circle small"/>
          <p:cNvSpPr/>
          <p:nvPr/>
        </p:nvSpPr>
        <p:spPr>
          <a:xfrm>
            <a:off x="2194560" y="-822960"/>
            <a:ext cx="2011680" cy="2011680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Problem illustration" descr="Illustration of an overwhelmed person relying on AI for answ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0"/>
            <a:ext cx="7528255" cy="68580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The Problem: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7" name="Point 1">
            <a:extLst>
              <a:ext uri="{FF2B5EF4-FFF2-40B4-BE49-F238E27FC236}">
                <a16:creationId xmlns:a16="http://schemas.microsoft.com/office/drawing/2014/main" id="{8ECEE1BC-FEAC-8A0E-F5C0-26A4E3F92EB3}"/>
              </a:ext>
            </a:extLst>
          </p:cNvPr>
          <p:cNvSpPr txBox="1"/>
          <p:nvPr/>
        </p:nvSpPr>
        <p:spPr>
          <a:xfrm>
            <a:off x="472966" y="5082803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Pauline Prinz (WU)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Fatemeh Sepehri(University of Vienna)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Sara </a:t>
            </a:r>
            <a:r>
              <a:rPr lang="en-US" sz="1050" dirty="0" err="1">
                <a:solidFill>
                  <a:schemeClr val="tx1">
                    <a:lumMod val="10000"/>
                    <a:lumOff val="90000"/>
                  </a:schemeClr>
                </a:solidFill>
              </a:rPr>
              <a:t>Klasová</a:t>
            </a: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 (WU)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Arshia Fajar (FH St. </a:t>
            </a:r>
            <a:r>
              <a:rPr lang="en-US" sz="1050" dirty="0" err="1">
                <a:solidFill>
                  <a:schemeClr val="tx1">
                    <a:lumMod val="10000"/>
                    <a:lumOff val="90000"/>
                  </a:schemeClr>
                </a:solidFill>
              </a:rPr>
              <a:t>Pölten</a:t>
            </a:r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sz="1050" dirty="0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Solution: “Devil’s AIdvocate”: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For those who seek real growth, not shortcuts.</a:t>
            </a:r>
            <a:endParaRPr lang="en-US" sz="1800" dirty="0"/>
          </a:p>
        </p:txBody>
      </p:sp>
      <p:sp>
        <p:nvSpPr>
          <p:cNvPr id="4" name="Tagline band"/>
          <p:cNvSpPr/>
          <p:nvPr/>
        </p:nvSpPr>
        <p:spPr>
          <a:xfrm>
            <a:off x="548640" y="169164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agline text"/>
          <p:cNvSpPr txBox="1"/>
          <p:nvPr/>
        </p:nvSpPr>
        <p:spPr>
          <a:xfrm>
            <a:off x="822960" y="1691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</a:rPr>
              <a:t>It doesn’t just give you the answer - it teaches you how to find it yourself!</a:t>
            </a:r>
            <a:endParaRPr lang="en-US" sz="1800" dirty="0"/>
          </a:p>
        </p:txBody>
      </p:sp>
      <p:sp>
        <p:nvSpPr>
          <p:cNvPr id="6" name="Coach heading"/>
          <p:cNvSpPr txBox="1"/>
          <p:nvPr/>
        </p:nvSpPr>
        <p:spPr>
          <a:xfrm>
            <a:off x="548640" y="2606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 AI thinking coach / sparring partner that</a:t>
            </a:r>
            <a:endParaRPr lang="en-US" sz="2000" dirty="0"/>
          </a:p>
        </p:txBody>
      </p:sp>
      <p:sp>
        <p:nvSpPr>
          <p:cNvPr id="7" name="Number badge 1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Number 1"/>
          <p:cNvSpPr txBox="1"/>
          <p:nvPr/>
        </p:nvSpPr>
        <p:spPr>
          <a:xfrm>
            <a:off x="5486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Point 1"/>
          <p:cNvSpPr txBox="1"/>
          <p:nvPr/>
        </p:nvSpPr>
        <p:spPr>
          <a:xfrm>
            <a:off x="1371600" y="3520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strengthens your critical thinking</a:t>
            </a:r>
            <a:endParaRPr lang="en-US" sz="1800" dirty="0"/>
          </a:p>
        </p:txBody>
      </p:sp>
      <p:sp>
        <p:nvSpPr>
          <p:cNvPr id="10" name="Number badge 2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Number 2"/>
          <p:cNvSpPr txBox="1"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Point 2"/>
          <p:cNvSpPr txBox="1"/>
          <p:nvPr/>
        </p:nvSpPr>
        <p:spPr>
          <a:xfrm>
            <a:off x="1371600" y="4434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challenges your assumptions</a:t>
            </a:r>
            <a:endParaRPr lang="en-US" sz="1800" dirty="0"/>
          </a:p>
        </p:txBody>
      </p:sp>
      <p:sp>
        <p:nvSpPr>
          <p:cNvPr id="13" name="Number badge 3"/>
          <p:cNvSpPr/>
          <p:nvPr/>
        </p:nvSpPr>
        <p:spPr>
          <a:xfrm>
            <a:off x="548640" y="5349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Number 3"/>
          <p:cNvSpPr txBox="1"/>
          <p:nvPr/>
        </p:nvSpPr>
        <p:spPr>
          <a:xfrm>
            <a:off x="54864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Point 3"/>
          <p:cNvSpPr txBox="1"/>
          <p:nvPr/>
        </p:nvSpPr>
        <p:spPr>
          <a:xfrm>
            <a:off x="1371600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helps you become an independent thinker</a:t>
            </a:r>
            <a:endParaRPr lang="en-US" sz="1800" dirty="0"/>
          </a:p>
        </p:txBody>
      </p:sp>
      <p:sp>
        <p:nvSpPr>
          <p:cNvPr id="16" name="Screenshot frame"/>
          <p:cNvSpPr/>
          <p:nvPr/>
        </p:nvSpPr>
        <p:spPr>
          <a:xfrm>
            <a:off x="5349240" y="2606040"/>
            <a:ext cx="6291072" cy="36576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7" name="Devil’s AIdvocate screenshot" descr="Screenshot of the Devil’s AIdvocate appli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697480"/>
            <a:ext cx="6108192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Responsibility Aspects: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Four aspects built into the code — each one verified by automated tests</a:t>
            </a:r>
            <a:endParaRPr lang="en-US" sz="1800" dirty="0"/>
          </a:p>
        </p:txBody>
      </p:sp>
      <p:sp>
        <p:nvSpPr>
          <p:cNvPr id="4" name="Card body 1"/>
          <p:cNvSpPr/>
          <p:nvPr/>
        </p:nvSpPr>
        <p:spPr>
          <a:xfrm>
            <a:off x="548640" y="1691640"/>
            <a:ext cx="2569464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Card header 1"/>
          <p:cNvSpPr/>
          <p:nvPr/>
        </p:nvSpPr>
        <p:spPr>
          <a:xfrm>
            <a:off x="548640" y="1691640"/>
            <a:ext cx="2569464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Icon circle 1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7" name="Icon 1" descr="Privacy and Data prot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38528"/>
            <a:ext cx="237744" cy="237744"/>
          </a:xfrm>
          <a:prstGeom prst="rect">
            <a:avLst/>
          </a:prstGeom>
        </p:spPr>
      </p:pic>
      <p:sp>
        <p:nvSpPr>
          <p:cNvPr id="8" name="Aspect 1"/>
          <p:cNvSpPr txBox="1"/>
          <p:nvPr/>
        </p:nvSpPr>
        <p:spPr>
          <a:xfrm>
            <a:off x="731520" y="23500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Privacy and Data protection</a:t>
            </a:r>
            <a:endParaRPr lang="en-US" sz="1500" dirty="0"/>
          </a:p>
        </p:txBody>
      </p:sp>
      <p:sp>
        <p:nvSpPr>
          <p:cNvPr id="9" name="Details 1"/>
          <p:cNvSpPr txBox="1"/>
          <p:nvPr/>
        </p:nvSpPr>
        <p:spPr>
          <a:xfrm>
            <a:off x="731520" y="2990088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Personal identifiers removed before the AI sees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Nothing stored on the server; logs hold no user text</a:t>
            </a:r>
            <a:endParaRPr lang="en-US" sz="1400" dirty="0"/>
          </a:p>
        </p:txBody>
      </p:sp>
      <p:sp>
        <p:nvSpPr>
          <p:cNvPr id="10" name="Tested badge 1"/>
          <p:cNvSpPr/>
          <p:nvPr/>
        </p:nvSpPr>
        <p:spPr>
          <a:xfrm>
            <a:off x="685800" y="4572000"/>
            <a:ext cx="229514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11" name="Check 1" descr="Tes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82312"/>
            <a:ext cx="219456" cy="219456"/>
          </a:xfrm>
          <a:prstGeom prst="rect">
            <a:avLst/>
          </a:prstGeom>
        </p:spPr>
      </p:pic>
      <p:sp>
        <p:nvSpPr>
          <p:cNvPr id="12" name="Tested text 1"/>
          <p:cNvSpPr txBox="1"/>
          <p:nvPr/>
        </p:nvSpPr>
        <p:spPr>
          <a:xfrm>
            <a:off x="1097280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Tested: no identifier reaches the AI</a:t>
            </a:r>
            <a:endParaRPr lang="en-US" sz="1300" dirty="0"/>
          </a:p>
        </p:txBody>
      </p:sp>
      <p:sp>
        <p:nvSpPr>
          <p:cNvPr id="13" name="Card body 2"/>
          <p:cNvSpPr/>
          <p:nvPr/>
        </p:nvSpPr>
        <p:spPr>
          <a:xfrm>
            <a:off x="3392424" y="1691640"/>
            <a:ext cx="2569464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Card header 2"/>
          <p:cNvSpPr/>
          <p:nvPr/>
        </p:nvSpPr>
        <p:spPr>
          <a:xfrm>
            <a:off x="3392424" y="1691640"/>
            <a:ext cx="2569464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Icon circle 2"/>
          <p:cNvSpPr/>
          <p:nvPr/>
        </p:nvSpPr>
        <p:spPr>
          <a:xfrm>
            <a:off x="3575304" y="18288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6" name="Icon 2" descr="Human autonomy and psychological safe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938528"/>
            <a:ext cx="237744" cy="237744"/>
          </a:xfrm>
          <a:prstGeom prst="rect">
            <a:avLst/>
          </a:prstGeom>
        </p:spPr>
      </p:pic>
      <p:sp>
        <p:nvSpPr>
          <p:cNvPr id="17" name="Aspect 2"/>
          <p:cNvSpPr txBox="1"/>
          <p:nvPr/>
        </p:nvSpPr>
        <p:spPr>
          <a:xfrm>
            <a:off x="3575304" y="23500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Human autonomy and psychological safety</a:t>
            </a:r>
            <a:endParaRPr lang="en-US" sz="1500" dirty="0"/>
          </a:p>
        </p:txBody>
      </p:sp>
      <p:sp>
        <p:nvSpPr>
          <p:cNvPr id="18" name="Details 2"/>
          <p:cNvSpPr txBox="1"/>
          <p:nvPr/>
        </p:nvSpPr>
        <p:spPr>
          <a:xfrm>
            <a:off x="3575304" y="2990088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Think First: the AI replies only after you commit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decides; nudges solo thinking after 5 sessions a day</a:t>
            </a:r>
            <a:endParaRPr lang="en-US" sz="1400" dirty="0"/>
          </a:p>
        </p:txBody>
      </p:sp>
      <p:sp>
        <p:nvSpPr>
          <p:cNvPr id="19" name="Tested badge 2"/>
          <p:cNvSpPr/>
          <p:nvPr/>
        </p:nvSpPr>
        <p:spPr>
          <a:xfrm>
            <a:off x="3529584" y="4572000"/>
            <a:ext cx="229514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20" name="Check 2" descr="Tes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4782312"/>
            <a:ext cx="219456" cy="219456"/>
          </a:xfrm>
          <a:prstGeom prst="rect">
            <a:avLst/>
          </a:prstGeom>
        </p:spPr>
      </p:pic>
      <p:sp>
        <p:nvSpPr>
          <p:cNvPr id="21" name="Tested text 2"/>
          <p:cNvSpPr txBox="1"/>
          <p:nvPr/>
        </p:nvSpPr>
        <p:spPr>
          <a:xfrm>
            <a:off x="3941064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Tested: “you should…” is blocked</a:t>
            </a:r>
            <a:endParaRPr lang="en-US" sz="1300" dirty="0"/>
          </a:p>
        </p:txBody>
      </p:sp>
      <p:sp>
        <p:nvSpPr>
          <p:cNvPr id="22" name="Card body 3"/>
          <p:cNvSpPr/>
          <p:nvPr/>
        </p:nvSpPr>
        <p:spPr>
          <a:xfrm>
            <a:off x="6236208" y="1691640"/>
            <a:ext cx="2569464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3" name="Card header 3"/>
          <p:cNvSpPr/>
          <p:nvPr/>
        </p:nvSpPr>
        <p:spPr>
          <a:xfrm>
            <a:off x="6236208" y="1691640"/>
            <a:ext cx="2569464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Icon circle 3"/>
          <p:cNvSpPr/>
          <p:nvPr/>
        </p:nvSpPr>
        <p:spPr>
          <a:xfrm>
            <a:off x="6419088" y="18288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5" name="Icon 3" descr="Harmful content and topic boundari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1938528"/>
            <a:ext cx="237744" cy="237744"/>
          </a:xfrm>
          <a:prstGeom prst="rect">
            <a:avLst/>
          </a:prstGeom>
        </p:spPr>
      </p:pic>
      <p:sp>
        <p:nvSpPr>
          <p:cNvPr id="26" name="Aspect 3"/>
          <p:cNvSpPr txBox="1"/>
          <p:nvPr/>
        </p:nvSpPr>
        <p:spPr>
          <a:xfrm>
            <a:off x="6419088" y="23500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Harmful content and topic boundaries</a:t>
            </a:r>
            <a:endParaRPr lang="en-US" sz="1500" dirty="0"/>
          </a:p>
        </p:txBody>
      </p:sp>
      <p:sp>
        <p:nvSpPr>
          <p:cNvPr id="27" name="Details 3"/>
          <p:cNvSpPr txBox="1"/>
          <p:nvPr/>
        </p:nvSpPr>
        <p:spPr>
          <a:xfrm>
            <a:off x="6419088" y="2990088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Distress stops the debate and shows support 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Questions only; user text is data, never commands</a:t>
            </a:r>
            <a:endParaRPr lang="en-US" sz="1400" dirty="0"/>
          </a:p>
        </p:txBody>
      </p:sp>
      <p:sp>
        <p:nvSpPr>
          <p:cNvPr id="28" name="Tested badge 3"/>
          <p:cNvSpPr/>
          <p:nvPr/>
        </p:nvSpPr>
        <p:spPr>
          <a:xfrm>
            <a:off x="6373368" y="4572000"/>
            <a:ext cx="229514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29" name="Check 3" descr="Tes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782312"/>
            <a:ext cx="219456" cy="219456"/>
          </a:xfrm>
          <a:prstGeom prst="rect">
            <a:avLst/>
          </a:prstGeom>
        </p:spPr>
      </p:pic>
      <p:sp>
        <p:nvSpPr>
          <p:cNvPr id="30" name="Tested text 3"/>
          <p:cNvSpPr txBox="1"/>
          <p:nvPr/>
        </p:nvSpPr>
        <p:spPr>
          <a:xfrm>
            <a:off x="6784848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Tested: hidden distress is caught</a:t>
            </a:r>
            <a:endParaRPr lang="en-US" sz="1300" dirty="0"/>
          </a:p>
        </p:txBody>
      </p:sp>
      <p:sp>
        <p:nvSpPr>
          <p:cNvPr id="31" name="Card body 4"/>
          <p:cNvSpPr/>
          <p:nvPr/>
        </p:nvSpPr>
        <p:spPr>
          <a:xfrm>
            <a:off x="9079992" y="1691640"/>
            <a:ext cx="2569464" cy="365760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2" name="Card header 4"/>
          <p:cNvSpPr/>
          <p:nvPr/>
        </p:nvSpPr>
        <p:spPr>
          <a:xfrm>
            <a:off x="9079992" y="1691640"/>
            <a:ext cx="2569464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Icon circle 4"/>
          <p:cNvSpPr/>
          <p:nvPr/>
        </p:nvSpPr>
        <p:spPr>
          <a:xfrm>
            <a:off x="9262872" y="18288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4" name="Icon 4" descr="Human oversight and accountabilit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1938528"/>
            <a:ext cx="237744" cy="237744"/>
          </a:xfrm>
          <a:prstGeom prst="rect">
            <a:avLst/>
          </a:prstGeom>
        </p:spPr>
      </p:pic>
      <p:sp>
        <p:nvSpPr>
          <p:cNvPr id="35" name="Aspect 4"/>
          <p:cNvSpPr txBox="1"/>
          <p:nvPr/>
        </p:nvSpPr>
        <p:spPr>
          <a:xfrm>
            <a:off x="9262872" y="23500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Human oversight and accountability</a:t>
            </a:r>
            <a:endParaRPr lang="en-US" sz="1500" dirty="0"/>
          </a:p>
        </p:txBody>
      </p:sp>
      <p:sp>
        <p:nvSpPr>
          <p:cNvPr id="36" name="Details 4"/>
          <p:cNvSpPr txBox="1"/>
          <p:nvPr/>
        </p:nvSpPr>
        <p:spPr>
          <a:xfrm>
            <a:off x="9262872" y="2990088"/>
            <a:ext cx="2203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reply shows model, basis, confidence and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decide and stay responsible; fallbacks are announced</a:t>
            </a:r>
            <a:endParaRPr lang="en-US" sz="1400" dirty="0"/>
          </a:p>
        </p:txBody>
      </p:sp>
      <p:sp>
        <p:nvSpPr>
          <p:cNvPr id="37" name="Tested badge 4"/>
          <p:cNvSpPr/>
          <p:nvPr/>
        </p:nvSpPr>
        <p:spPr>
          <a:xfrm>
            <a:off x="9217152" y="4572000"/>
            <a:ext cx="229514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8" name="Check 4" descr="Tes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4782312"/>
            <a:ext cx="219456" cy="219456"/>
          </a:xfrm>
          <a:prstGeom prst="rect">
            <a:avLst/>
          </a:prstGeom>
        </p:spPr>
      </p:pic>
      <p:sp>
        <p:nvSpPr>
          <p:cNvPr id="39" name="Tested text 4"/>
          <p:cNvSpPr txBox="1"/>
          <p:nvPr/>
        </p:nvSpPr>
        <p:spPr>
          <a:xfrm>
            <a:off x="9628632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Tested: no source, no reply</a:t>
            </a:r>
            <a:endParaRPr lang="en-US" sz="1300" dirty="0"/>
          </a:p>
        </p:txBody>
      </p:sp>
      <p:sp>
        <p:nvSpPr>
          <p:cNvPr id="40" name="Chip 1"/>
          <p:cNvSpPr/>
          <p:nvPr/>
        </p:nvSpPr>
        <p:spPr>
          <a:xfrm>
            <a:off x="548640" y="5577840"/>
            <a:ext cx="3514344" cy="6858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1" name="Chip icon circle 1"/>
          <p:cNvSpPr/>
          <p:nvPr/>
        </p:nvSpPr>
        <p:spPr>
          <a:xfrm>
            <a:off x="731520" y="56921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2" name="Chip icon 1" descr="Fairness and non-discrimin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801868"/>
            <a:ext cx="237744" cy="237744"/>
          </a:xfrm>
          <a:prstGeom prst="rect">
            <a:avLst/>
          </a:prstGeom>
        </p:spPr>
      </p:pic>
      <p:sp>
        <p:nvSpPr>
          <p:cNvPr id="43" name="Chip label 1"/>
          <p:cNvSpPr txBox="1"/>
          <p:nvPr/>
        </p:nvSpPr>
        <p:spPr>
          <a:xfrm>
            <a:off x="1371600" y="5577840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Fairness and non-discrimination</a:t>
            </a:r>
            <a:endParaRPr lang="en-US" sz="1500" dirty="0"/>
          </a:p>
        </p:txBody>
      </p:sp>
      <p:sp>
        <p:nvSpPr>
          <p:cNvPr id="44" name="Chip 2"/>
          <p:cNvSpPr/>
          <p:nvPr/>
        </p:nvSpPr>
        <p:spPr>
          <a:xfrm>
            <a:off x="4337304" y="5577840"/>
            <a:ext cx="3514344" cy="6858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5" name="Chip icon circle 2"/>
          <p:cNvSpPr/>
          <p:nvPr/>
        </p:nvSpPr>
        <p:spPr>
          <a:xfrm>
            <a:off x="4520184" y="56921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6" name="Chip icon 2" descr="Transparency and explainabilit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912" y="5801868"/>
            <a:ext cx="237744" cy="237744"/>
          </a:xfrm>
          <a:prstGeom prst="rect">
            <a:avLst/>
          </a:prstGeom>
        </p:spPr>
      </p:pic>
      <p:sp>
        <p:nvSpPr>
          <p:cNvPr id="47" name="Chip label 2"/>
          <p:cNvSpPr txBox="1"/>
          <p:nvPr/>
        </p:nvSpPr>
        <p:spPr>
          <a:xfrm>
            <a:off x="5160264" y="5577840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Transparency and explainability</a:t>
            </a:r>
            <a:endParaRPr lang="en-US" sz="1500" dirty="0"/>
          </a:p>
        </p:txBody>
      </p:sp>
      <p:sp>
        <p:nvSpPr>
          <p:cNvPr id="48" name="Chip 3"/>
          <p:cNvSpPr/>
          <p:nvPr/>
        </p:nvSpPr>
        <p:spPr>
          <a:xfrm>
            <a:off x="8125968" y="5577840"/>
            <a:ext cx="3514344" cy="6858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9" name="Chip icon circle 3"/>
          <p:cNvSpPr/>
          <p:nvPr/>
        </p:nvSpPr>
        <p:spPr>
          <a:xfrm>
            <a:off x="8308848" y="56921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0" name="Chip icon 3" descr="Hallucination and Source Reliabilit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8576" y="5801868"/>
            <a:ext cx="237744" cy="237744"/>
          </a:xfrm>
          <a:prstGeom prst="rect">
            <a:avLst/>
          </a:prstGeom>
        </p:spPr>
      </p:pic>
      <p:sp>
        <p:nvSpPr>
          <p:cNvPr id="51" name="Chip label 3"/>
          <p:cNvSpPr txBox="1"/>
          <p:nvPr/>
        </p:nvSpPr>
        <p:spPr>
          <a:xfrm>
            <a:off x="8948928" y="5577840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Hallucination and Source Reliability</a:t>
            </a:r>
            <a:endParaRPr lang="en-US" sz="15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Scenario hackathon</a:t>
            </a:r>
            <a:endParaRPr lang="en-US" sz="3400" dirty="0"/>
          </a:p>
        </p:txBody>
      </p:sp>
      <p:sp>
        <p:nvSpPr>
          <p:cNvPr id="3" name="Demo panel"/>
          <p:cNvSpPr/>
          <p:nvPr/>
        </p:nvSpPr>
        <p:spPr>
          <a:xfrm>
            <a:off x="548640" y="1325880"/>
            <a:ext cx="11091672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Frame a"/>
          <p:cNvSpPr/>
          <p:nvPr/>
        </p:nvSpPr>
        <p:spPr>
          <a:xfrm>
            <a:off x="2040069" y="1572768"/>
            <a:ext cx="8111558" cy="476402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5" name="Demo screenshot 1" descr="Demo screenshot: scenario hacka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221" y="1709928"/>
            <a:ext cx="7965254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Scenario hackathon</a:t>
            </a:r>
            <a:endParaRPr lang="en-US" sz="3400" dirty="0"/>
          </a:p>
        </p:txBody>
      </p:sp>
      <p:sp>
        <p:nvSpPr>
          <p:cNvPr id="3" name="Demo panel"/>
          <p:cNvSpPr/>
          <p:nvPr/>
        </p:nvSpPr>
        <p:spPr>
          <a:xfrm>
            <a:off x="548640" y="1325880"/>
            <a:ext cx="11091672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Frame b"/>
          <p:cNvSpPr/>
          <p:nvPr/>
        </p:nvSpPr>
        <p:spPr>
          <a:xfrm>
            <a:off x="1979036" y="1572768"/>
            <a:ext cx="8233622" cy="476402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5" name="Demo screenshot 2" descr="Demo screenshot: scenario hacka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88" y="1709928"/>
            <a:ext cx="8087318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Scenario hackathon</a:t>
            </a:r>
            <a:endParaRPr lang="en-US" sz="3400" dirty="0"/>
          </a:p>
        </p:txBody>
      </p:sp>
      <p:sp>
        <p:nvSpPr>
          <p:cNvPr id="3" name="Demo panel"/>
          <p:cNvSpPr/>
          <p:nvPr/>
        </p:nvSpPr>
        <p:spPr>
          <a:xfrm>
            <a:off x="548640" y="1325880"/>
            <a:ext cx="11091672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Frame c"/>
          <p:cNvSpPr/>
          <p:nvPr/>
        </p:nvSpPr>
        <p:spPr>
          <a:xfrm>
            <a:off x="790956" y="1554480"/>
            <a:ext cx="10789920" cy="79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5" name="Session banner" descr="Banner showing the Devil’s AIdvocate session hea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645920"/>
            <a:ext cx="10607040" cy="616920"/>
          </a:xfrm>
          <a:prstGeom prst="rect">
            <a:avLst/>
          </a:prstGeom>
        </p:spPr>
      </p:pic>
      <p:sp>
        <p:nvSpPr>
          <p:cNvPr id="6" name="Frame d"/>
          <p:cNvSpPr/>
          <p:nvPr/>
        </p:nvSpPr>
        <p:spPr>
          <a:xfrm>
            <a:off x="3596943" y="2606040"/>
            <a:ext cx="4997810" cy="3840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7" name="Session steps" descr="This session: Think, Challenge, Refle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383" y="2697480"/>
            <a:ext cx="481493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Scenario hackathon</a:t>
            </a:r>
            <a:endParaRPr lang="en-US" sz="3400" dirty="0"/>
          </a:p>
        </p:txBody>
      </p:sp>
      <p:sp>
        <p:nvSpPr>
          <p:cNvPr id="3" name="Demo panel"/>
          <p:cNvSpPr/>
          <p:nvPr/>
        </p:nvSpPr>
        <p:spPr>
          <a:xfrm>
            <a:off x="548640" y="1325880"/>
            <a:ext cx="11091672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Frame e"/>
          <p:cNvSpPr/>
          <p:nvPr/>
        </p:nvSpPr>
        <p:spPr>
          <a:xfrm>
            <a:off x="3339669" y="1508760"/>
            <a:ext cx="2050302" cy="46634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5" name="Insights panel" descr="Demo screenshot: session insights 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109" y="1600200"/>
            <a:ext cx="1867422" cy="4480560"/>
          </a:xfrm>
          <a:prstGeom prst="rect">
            <a:avLst/>
          </a:prstGeom>
        </p:spPr>
      </p:pic>
      <p:sp>
        <p:nvSpPr>
          <p:cNvPr id="6" name="Frame f"/>
          <p:cNvSpPr/>
          <p:nvPr/>
        </p:nvSpPr>
        <p:spPr>
          <a:xfrm>
            <a:off x="5755731" y="1508760"/>
            <a:ext cx="3096296" cy="46634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B2A1E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7" name="Progress panel" descr="Demo screenshot: progress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171" y="1600200"/>
            <a:ext cx="2913416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Background Literature:</a:t>
            </a:r>
            <a:endParaRPr lang="en-US" sz="3400" dirty="0"/>
          </a:p>
        </p:txBody>
      </p:sp>
      <p:sp>
        <p:nvSpPr>
          <p:cNvPr id="3" name="Ref card 1"/>
          <p:cNvSpPr/>
          <p:nvPr/>
        </p:nvSpPr>
        <p:spPr>
          <a:xfrm>
            <a:off x="548640" y="137160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Ref badg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Ref number 1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ference 1"/>
          <p:cNvSpPr txBox="1"/>
          <p:nvPr/>
        </p:nvSpPr>
        <p:spPr>
          <a:xfrm>
            <a:off x="1371600" y="15544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Bisra, K., Liu, Q., Nesbit, J. C., Salimi, F., &amp; Winne, P. H. (2018). Inducing self-explanation: A meta-analysis. Educational Psychology Review, 30, 703–725. </a:t>
            </a:r>
            <a:r>
              <a:rPr lang="en-US" sz="12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https://doi.org/10.1007/s10648-018-9434-x</a:t>
            </a:r>
            <a:endParaRPr lang="en-US" sz="1200" dirty="0"/>
          </a:p>
        </p:txBody>
      </p:sp>
      <p:sp>
        <p:nvSpPr>
          <p:cNvPr id="7" name="Ref card 2"/>
          <p:cNvSpPr/>
          <p:nvPr/>
        </p:nvSpPr>
        <p:spPr>
          <a:xfrm>
            <a:off x="548640" y="306324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Ref badge 2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Ref number 2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Reference 2"/>
          <p:cNvSpPr txBox="1"/>
          <p:nvPr/>
        </p:nvSpPr>
        <p:spPr>
          <a:xfrm>
            <a:off x="1371600" y="3246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Carpenter, S. K., Pan, S. C., &amp; Butler, A. C. (2022). The science of effective learning with spacing and retrieval practice. Nature Reviews Psychology, 1, 496–511. </a:t>
            </a:r>
            <a:r>
              <a:rPr lang="en-US" sz="1200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https://doi.org/10.1038/s44159-022-00089-1</a:t>
            </a:r>
            <a:endParaRPr lang="en-US" sz="1200" dirty="0"/>
          </a:p>
        </p:txBody>
      </p:sp>
      <p:sp>
        <p:nvSpPr>
          <p:cNvPr id="11" name="Ref card 3"/>
          <p:cNvSpPr/>
          <p:nvPr/>
        </p:nvSpPr>
        <p:spPr>
          <a:xfrm>
            <a:off x="548640" y="475488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Ref badge 3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Ref number 3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Reference 3"/>
          <p:cNvSpPr txBox="1"/>
          <p:nvPr/>
        </p:nvSpPr>
        <p:spPr>
          <a:xfrm>
            <a:off x="1371600" y="49377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Flavell, J. H. (1979). Metacognition and cognitive monitoring: A new area of cognitive-developmental inquiry. American Psychologist, 34(10), 906–911. </a:t>
            </a:r>
            <a:r>
              <a:rPr lang="en-US" sz="1200" u="sng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https://doi.org/10.1037/0003-066X.34.10.906</a:t>
            </a:r>
            <a:endParaRPr lang="en-US" sz="1200" dirty="0"/>
          </a:p>
        </p:txBody>
      </p:sp>
      <p:sp>
        <p:nvSpPr>
          <p:cNvPr id="15" name="Ref card 4"/>
          <p:cNvSpPr/>
          <p:nvPr/>
        </p:nvSpPr>
        <p:spPr>
          <a:xfrm>
            <a:off x="6245352" y="137160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Ref badge 4"/>
          <p:cNvSpPr/>
          <p:nvPr/>
        </p:nvSpPr>
        <p:spPr>
          <a:xfrm>
            <a:off x="6428232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Ref number 4"/>
          <p:cNvSpPr txBox="1"/>
          <p:nvPr/>
        </p:nvSpPr>
        <p:spPr>
          <a:xfrm>
            <a:off x="64282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Reference 4"/>
          <p:cNvSpPr txBox="1"/>
          <p:nvPr/>
        </p:nvSpPr>
        <p:spPr>
          <a:xfrm>
            <a:off x="7068312" y="15544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Lee, H.-P., Sarkar, A., Tankelevitch, L., Drosos, I., Rintel, S., Banks, R., &amp; Wilson, N. (2025). The impact of generative AI on critical thinking: Self-reported reductions in cognitive effort and confidence effects from a survey of knowledge workers. In Proceedings of the 2025 CHI Conference on Human Factors in Computing Systems (Article 1121, pp. 1–22). Association for Computing Machinery. </a:t>
            </a:r>
            <a:r>
              <a:rPr lang="en-US" sz="1200" u="sng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https://doi.org/10.1145/3706598.3713778</a:t>
            </a:r>
            <a:endParaRPr lang="en-US" sz="1200" dirty="0"/>
          </a:p>
        </p:txBody>
      </p:sp>
      <p:sp>
        <p:nvSpPr>
          <p:cNvPr id="19" name="Ref card 5"/>
          <p:cNvSpPr/>
          <p:nvPr/>
        </p:nvSpPr>
        <p:spPr>
          <a:xfrm>
            <a:off x="6245352" y="306324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Ref badge 5"/>
          <p:cNvSpPr/>
          <p:nvPr/>
        </p:nvSpPr>
        <p:spPr>
          <a:xfrm>
            <a:off x="6428232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Ref number 5"/>
          <p:cNvSpPr txBox="1"/>
          <p:nvPr/>
        </p:nvSpPr>
        <p:spPr>
          <a:xfrm>
            <a:off x="642823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Reference 5"/>
          <p:cNvSpPr txBox="1"/>
          <p:nvPr/>
        </p:nvSpPr>
        <p:spPr>
          <a:xfrm>
            <a:off x="7068312" y="3246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National Institute of Standards and Technology. (2023). Artificial intelligence risk management framework (AI RMF 1.0) (NIST AI 100-1). U.S. Department of Commerce. </a:t>
            </a:r>
            <a:r>
              <a:rPr lang="en-US" sz="1200" u="sng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https://doi.org/10.6028/NIST.AI.100-1</a:t>
            </a:r>
            <a:endParaRPr lang="en-US" sz="1200" dirty="0"/>
          </a:p>
        </p:txBody>
      </p:sp>
      <p:sp>
        <p:nvSpPr>
          <p:cNvPr id="23" name="Ref card 6"/>
          <p:cNvSpPr/>
          <p:nvPr/>
        </p:nvSpPr>
        <p:spPr>
          <a:xfrm>
            <a:off x="6245352" y="475488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Ref badge 6"/>
          <p:cNvSpPr/>
          <p:nvPr/>
        </p:nvSpPr>
        <p:spPr>
          <a:xfrm>
            <a:off x="6428232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Ref number 6"/>
          <p:cNvSpPr txBox="1"/>
          <p:nvPr/>
        </p:nvSpPr>
        <p:spPr>
          <a:xfrm>
            <a:off x="6428232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Reference 6"/>
          <p:cNvSpPr txBox="1"/>
          <p:nvPr/>
        </p:nvSpPr>
        <p:spPr>
          <a:xfrm>
            <a:off x="7068312" y="49377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Parasuraman, R., &amp; Manzey, D. H. (2010). Complacency and bias in human use of automation: An attentional integration. Human Factors, 52(3), 381–410. </a:t>
            </a:r>
            <a:r>
              <a:rPr lang="en-US" sz="1200" u="sng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https://doi.org/10.1177/0018720810376055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ponsible AI Green">
  <a:themeElements>
    <a:clrScheme name="Responsible AI Green">
      <a:dk1>
        <a:srgbClr val="0B2A1E"/>
      </a:dk1>
      <a:lt1>
        <a:srgbClr val="FFFFFF"/>
      </a:lt1>
      <a:dk2>
        <a:srgbClr val="14452F"/>
      </a:dk2>
      <a:lt2>
        <a:srgbClr val="EAF3EE"/>
      </a:lt2>
      <a:accent1>
        <a:srgbClr val="1F6B47"/>
      </a:accent1>
      <a:accent2>
        <a:srgbClr val="2E8B57"/>
      </a:accent2>
      <a:accent3>
        <a:srgbClr val="4FA672"/>
      </a:accent3>
      <a:accent4>
        <a:srgbClr val="8CC6A0"/>
      </a:accent4>
      <a:accent5>
        <a:srgbClr val="B9DEC6"/>
      </a:accent5>
      <a:accent6>
        <a:srgbClr val="0F5132"/>
      </a:accent6>
      <a:hlink>
        <a:srgbClr val="1F6B47"/>
      </a:hlink>
      <a:folHlink>
        <a:srgbClr val="4F7F63"/>
      </a:folHlink>
    </a:clrScheme>
    <a:fontScheme name="Responsible AI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Breitbild</PresentationFormat>
  <Paragraphs>69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Responsible AI Green</vt:lpstr>
      <vt:lpstr>The Problem:</vt:lpstr>
      <vt:lpstr>The Solution: “Devil’s AIdvocate”:</vt:lpstr>
      <vt:lpstr>The Responsibility Aspects:</vt:lpstr>
      <vt:lpstr>Demo: Scenario hackathon</vt:lpstr>
      <vt:lpstr>Demo: Scenario hackathon</vt:lpstr>
      <vt:lpstr>Demo: Scenario hackathon</vt:lpstr>
      <vt:lpstr>Demo: Scenario hackathon</vt:lpstr>
      <vt:lpstr>Background Literature: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Devil's AIdvocate – Responsible AI Hackathon Pitch</dc:title>
  <dc:subject>PptxGenJS Presentation</dc:subject>
  <dc:creator>PptxGenJS</dc:creator>
  <cp:lastModifiedBy>Pauline Prinz</cp:lastModifiedBy>
  <cp:revision>4</cp:revision>
  <dcterms:created xsi:type="dcterms:W3CDTF">2026-10-24T14:30:45Z</dcterms:created>
  <dcterms:modified xsi:type="dcterms:W3CDTF">2026-10-24T14:45:31Z</dcterms:modified>
</cp:coreProperties>
</file>